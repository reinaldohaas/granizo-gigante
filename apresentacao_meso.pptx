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ROTEIRO DO ORADOR &amp; TUTORIAL DIDÁTICO (00:00 - 01:30):</a:t>
            </a:r>
          </a:p>
          <a:p>
            <a:r>
              <a:t>Bom dia aos meteorologistas e previsores da Defesa Civil de Santa Catarina, ao Professor Dr. Reinaldo Haas e aos colegas presentes.</a:t>
            </a:r>
          </a:p>
          <a:p>
            <a:r>
              <a:t>Hoje apresento o seminário de Meteorologia de Mesoescala, concebido para a defesa técnica perante os previsores da Defesa Civil de SC como diagnóstico de convecção profunda e suporte operacional à previsão de tempo severo.</a:t>
            </a:r>
          </a:p>
          <a:p/>
          <a:p>
            <a:r>
              <a:t>Conforme a diretriz da disciplina FSC7116 na UFSC, cada estudante deve selecionar três radiossondagens atmosféricas reais representando três regimes: uma atmosfera Estável, uma atmosfera Neutra (ou de transição) e uma atmosfera Instável.</a:t>
            </a:r>
          </a:p>
          <a:p>
            <a:r>
              <a:t>Essas sondagens podem ser escolhidas em datas diferentes na mesma estação — como fizemos para Florianópolis (SBFL - 83899) em agosto de 2026 — ou em estações diferentes.</a:t>
            </a:r>
          </a:p>
          <a:p/>
          <a:p>
            <a:r>
              <a:t>Nossa apresentação baseia-se em dados estritamente observados e calculados via MetPy e algoritmos de Kerry Emanuel (1994), gravados em métricas consolidadas e auditadas sem campos sintéticos ou valores manuais.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ROTEIRO DO ORADOR (01:30 - 03:00):</a:t>
            </a:r>
          </a:p>
          <a:p>
            <a:r>
              <a:t>Passando à análise do ambiente sinótico e dinâmico de 28 de agosto de 2026 às 12Z.</a:t>
            </a:r>
          </a:p>
          <a:p>
            <a:r>
              <a:t>Conforme as regras de integridade científica, a figura sinótica analítica sintética anterior foi removida e deixamos o marcador formal para inclusão posterior de reanálise real com ERA5 ou NCEP.</a:t>
            </a:r>
          </a:p>
          <a:p/>
          <a:p>
            <a:r>
              <a:t>Os dados observados na própria radiossondagem de Florianópolis atestam a presença de suporte dinâmico e termodinâmico relevante:</a:t>
            </a:r>
          </a:p>
          <a:p>
            <a:r>
              <a:t>Em 925 hPa, registrou-se vento de 20 nós (10.3 m/s) de quadrante ENE, indicando forte escoamento nos baixos níveis transportando umidade (PW de 40.9 mm).</a:t>
            </a:r>
          </a:p>
          <a:p>
            <a:r>
              <a:t>A confirmação dos padrões sinóticos em escala continental na América do Sul será realizada via reanálise oficial em grade.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ROTEIRO DO ORADOR (03:00 - 05:00):</a:t>
            </a:r>
          </a:p>
          <a:p>
            <a:r>
              <a:t>No painel à esquerda, temos a comparação lado a lado das sondagens com Skew-T, hodógrafo e métricas de diagnóstico.</a:t>
            </a:r>
          </a:p>
          <a:p/>
          <a:p>
            <a:r>
              <a:t>Na ANÁLISE 1 (26/08/2026 12Z - Estável):</a:t>
            </a:r>
          </a:p>
          <a:p>
            <a:r>
              <a:t>A atmosfera observada exibe forte ar seco em médios níveis. O SBCAPE calculado é de apenas 8.1 J/kg e MUCAPE de 0.0 J/kg, com água precipitável de 27.1 mm.</a:t>
            </a:r>
          </a:p>
          <a:p>
            <a:r>
              <a:t>A estratificação estável inibe convecção profunda.</a:t>
            </a:r>
          </a:p>
          <a:p/>
          <a:p>
            <a:r>
              <a:t>Na ANÁLISE 2 (31/08/2026 12Z - Neutra):</a:t>
            </a:r>
          </a:p>
          <a:p>
            <a:r>
              <a:t>A sondagem de 31/08 representa o regime neutro, intermediário entre o estável e o instável. O SBCAPE e MUCAPE são de 0.0 J/kg, acompanhados por moderada inibição convectiva (SBCIN = 0.0 J/kg) e água precipitável de 45.8 mm. O cisalhamento 0-6 km é de 31.9 m/s. Trata-se de um caso clássico de equilíbrio condicional.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ROTEIRO DO ORADOR (05:00 - 07:00):</a:t>
            </a:r>
          </a:p>
          <a:p>
            <a:r>
              <a:t>No Skew-T à esquerda, gerado via MetPy pelo script auditado, observamos o perfil do dia 28/08/2026 12Z.</a:t>
            </a:r>
          </a:p>
          <a:p>
            <a:r>
              <a:t>Na sondagem completa oficial, o MUCAPE calculado atinge 1303.5 J/kg, originado na camada quente e úmida de 925 hPa (T = 30°C, Td = 25°C). O SBCAPE é de 442.8 J/kg com SBCIN de -280.0 J/kg.</a:t>
            </a:r>
          </a:p>
          <a:p/>
          <a:p>
            <a:r>
              <a:t>O diagnóstico de camadas aponta taxas superadiabáticas nas camadas acima de 925 hPa: 925 a 910.5 hPa (Γ = 17.65 K/km) e 910.5 a 850 hPa (Γ = 17.88 K/km).</a:t>
            </a:r>
          </a:p>
          <a:p>
            <a:r>
              <a:t>Ao realizarmos um teste de sensibilidade sem esses níveis específicos, o MUCAPE resultante passa a ser 1109.5 J/kg e o SBCAPE 446.4 J/kg.</a:t>
            </a:r>
          </a:p>
          <a:p>
            <a:r>
              <a:t>Apresentamos ambos os resultados lado a lado com transparência técnica para discussão com o orientador e os previsores da Defesa Civil de SC.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ROTEIRO DO ORADOR (07:00 - 10:00):</a:t>
            </a:r>
          </a:p>
          <a:p>
            <a:r>
              <a:t>Este slide conecta o estudo ao arcabouço teórico de Kerry Emanuel (1994) e do curso MIT OCW 12.811.</a:t>
            </a:r>
          </a:p>
          <a:p>
            <a:r>
              <a:t>À esquerda, temos os gráficos 2D gerados pelas rotinas wyoming.f / tcon_emanuel.py para as três radiossondagens.</a:t>
            </a:r>
          </a:p>
          <a:p>
            <a:r>
              <a:t>A linha superior mostra a ascensão Reversível (temperatura de densidade Tρ com retenção de condensado), enquanto a linha inferior mostra a ascensão Pseudoadiabática (Tv com precipitação instantânea).</a:t>
            </a:r>
          </a:p>
          <a:p/>
          <a:p>
            <a:r>
              <a:t>Os dados do arquivo cape.out confirmam:</a:t>
            </a:r>
          </a:p>
          <a:p>
            <a:r>
              <a:t>No dia 26/08 (Estável), os valores são quase nulos (10.3 J/kg pseudoadiabático).</a:t>
            </a:r>
          </a:p>
          <a:p>
            <a:r>
              <a:t>No dia 31/08, há empuxo moderado (0.0 J/kg pseudoadiabático e 0.0 J/kg reversível).</a:t>
            </a:r>
          </a:p>
          <a:p>
            <a:r>
              <a:t>No dia 28/08, a parcela de superfície fornece 57.4 J/kg (pseudo) e -557.4 J/kg (rev), enquanto o nível de 925 hPa sustenta valores máximos de 57.4 J/kg e 0.0 J/kg.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ROTEIRO DO ORADOR (10:00 - 12:00):</a:t>
            </a:r>
          </a:p>
          <a:p>
            <a:r>
              <a:t>No slide 6, examinamos os perfis verticais do Colab limitados ao topo de 200 hPa com legendas no topo, conforme as orientações metodológicas.</a:t>
            </a:r>
          </a:p>
          <a:p>
            <a:r>
              <a:t>O Painel 1 exibe a temperatura potencial equivalente (θe): no dia 28/08, a camada abaixo de 600 hPa exibe decréscimo vertical acentuado (∂θe/∂z &lt; 0), caracterizando instabilidade potencial profunda.</a:t>
            </a:r>
          </a:p>
          <a:p>
            <a:r>
              <a:t>No Painel 2, a frequência de Brunt-Väisälä (N) mostra a estabilidade estática perto de 925 hPa.</a:t>
            </a:r>
          </a:p>
          <a:p>
            <a:r>
              <a:t>Os Painéis 3 e 4 confirmam a estabilidade estática e a alta concentração de umidade (PW de 40.9 mm).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ROTEIRO DO ORADOR (12:00 - 14:00):</a:t>
            </a:r>
          </a:p>
          <a:p>
            <a:r>
              <a:t>No Slide 7, detalhamos os perfis verticais do Capítulo 2 de Kerry Emanuel (1994).</a:t>
            </a:r>
          </a:p>
          <a:p>
            <a:r>
              <a:t>O conteúdo de água precipitável (PW) é de 40.9 mm pela sondagem completa e 40.2 mm no teste de sensibilidade.</a:t>
            </a:r>
          </a:p>
          <a:p>
            <a:r>
              <a:t>Para o Downdraft CAPE (DCAPE), comparamos as três metodologias padronizadas:</a:t>
            </a:r>
          </a:p>
          <a:p>
            <a:r>
              <a:t>1. Wyoming (página INDICES): 1189.7 J/kg.</a:t>
            </a:r>
          </a:p>
          <a:p>
            <a:r>
              <a:t>2. MetPy (mpcalc.downdraft_cape, coluna integrada): 1217.1 J/kg.</a:t>
            </a:r>
          </a:p>
          <a:p>
            <a:r>
              <a:t>3. Kerry Emanuel (1994, cape.out, máximo sobre as origens): 47.3 J/kg a partir de 905 hPa (0.0 J/kg na superfície).</a:t>
            </a:r>
          </a:p>
          <a:p>
            <a:r>
              <a:t>Todas são formulações físicas legítimas documentadas na literatura.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ROTEIRO DO ORADOR (14:00 - 17:00):</a:t>
            </a:r>
          </a:p>
          <a:p>
            <a:r>
              <a:t>Entramos no bloco de cinemática e dinâmica do vento.</a:t>
            </a:r>
          </a:p>
          <a:p>
            <a:r>
              <a:t>O gráfico à esquerda é o hodógrafo polar gerado via MetPy a partir dos dados auditados de 28/08/2026 12Z.</a:t>
            </a:r>
          </a:p>
          <a:p>
            <a:r>
              <a:t>Em 925 hPa, o vento atinge 20 nós (10.3 m/s) de direção 340°, gerando acentuada curvatura na baixa troposfera.</a:t>
            </a:r>
          </a:p>
          <a:p/>
          <a:p>
            <a:r>
              <a:t>O cisalhamento vertical profundo (Bulk Shear 0-6 km) calculado pelo MetPy é de 20.5 m/s (39.4 kt).</a:t>
            </a:r>
          </a:p>
          <a:p>
            <a:r>
              <a:t>No Hemisfério Sul, a regra de ouro da dinâmica mesossinótica estabelece que o movimento de tempestade relevante é o Bunkers Left-Mover (LM) e a helicidade ciclônica é NEGATIVA.</a:t>
            </a:r>
          </a:p>
          <a:p>
            <a:r>
              <a:t>O cálculo rigoroso com MetPy fornece um vetor Bunkers LM de (12.4, -3.9) m/s, resultando em SRH 0-1 km de -180.9 m²/s² e SRH 0-3 km de -336.3 m²/s².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ROTEIRO DO ORADOR (17:00 - 18:30):</a:t>
            </a:r>
          </a:p>
          <a:p>
            <a:r>
              <a:t>No Slide 9, discutimos o critério de resolução espacial no monitoramento por satélite meteorológico.</a:t>
            </a:r>
          </a:p>
          <a:p>
            <a:r>
              <a:t>A auditoria científica identificou que arquivos em grade de 1° (como ISCCP-H, ~110 km) realizam médias espaciais que diluem topos de nuvens convectivas de mesoescala.</a:t>
            </a:r>
          </a:p>
          <a:p>
            <a:r>
              <a:t>Topos frios de convecção severa têm escala de 5 a 20 km; ao promediar sobre uma célula de 110 km, o sinal térmico extremo é atenuado.</a:t>
            </a:r>
          </a:p>
          <a:p>
            <a:r>
              <a:t>Ressaltamos para os previsores da Defesa Civil a importância de utilizar produtos em resolução espacial condizente com a escala dos fenômenos monitorados.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ROTEIRO DO ORADOR (18:30 - 20:00):</a:t>
            </a:r>
          </a:p>
          <a:p>
            <a:r>
              <a:t>Chegamos à conclusão com a tabela síntese consolidada a partir do arquivo único metricas.json.</a:t>
            </a:r>
          </a:p>
          <a:p>
            <a:r>
              <a:t>Os diagnósticos demonstram o contraste entre os três regimes:</a:t>
            </a:r>
          </a:p>
          <a:p>
            <a:r>
              <a:t>1. O caso de 26/08 foi caracterizado por ausência de instabilidade (SBCAPE de 8 J/kg) e ar seco.</a:t>
            </a:r>
          </a:p>
          <a:p>
            <a:r>
              <a:t>2. O caso de 31/08 apresentou umidade intermediária e SBCAPE moderado (0 J/kg), com inibição convectiva significativa (0.0 J/kg).</a:t>
            </a:r>
          </a:p>
          <a:p>
            <a:r>
              <a:t>3. O caso de 28/08 reuniu alto teor de vapor (40.9 mm), vento intenso em baixos níveis (20 kt em 925 hPa), bulk shear 0-6 km de 20.5 m/s e helicidade SRH 0-3 km de -336.3 m²/s² com o vetor Bunkers Left-Mover relevante para o Hemisfério Sul.</a:t>
            </a:r>
          </a:p>
          <a:p/>
          <a:p>
            <a:r>
              <a:t>Concluo no tempo regulamentar e coloco-me à disposição para a discussão técnica e operacional.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02920"/>
            <a:ext cx="10332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UFSC  |  DEPARTAMENTO DE FÍSICA / CFM  |  FSC7116 METEOROLOGIA DE MESOESCALA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960120"/>
            <a:ext cx="10360152" cy="960120"/>
          </a:xfrm>
          <a:prstGeom prst="roundRect">
            <a:avLst/>
          </a:prstGeom>
          <a:solidFill>
            <a:srgbClr val="182646"/>
          </a:solidFill>
          <a:ln w="1524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024128"/>
            <a:ext cx="9966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BBF24"/>
                </a:solidFill>
              </a:defRPr>
            </a:pPr>
            <a:r>
              <a:t>📖 TUTORIAL &amp; DIRETRIZ DIDÁTICA: APRESENTAÇÃO FINAL AOS PREVISORES DA DEFESA CIVIL DE SC:</a:t>
            </a:r>
          </a:p>
          <a:p>
            <a:pPr>
              <a:spcBef>
                <a:spcPts val="300"/>
              </a:spcBef>
              <a:defRPr sz="950">
                <a:solidFill>
                  <a:srgbClr val="F8FAFC"/>
                </a:solidFill>
              </a:defRPr>
            </a:pPr>
            <a:r>
              <a:t>Cada aluno ou grupo DEVE selecionar OBRIGATORIAMENTE TRÊS RADIOSSONDAGENS REAIS DISTINTAS contemplando 3 regimes atmosféricos:</a:t>
            </a:r>
            <a:br/>
            <a:r>
              <a:t>1) Atmosfera ESTÁVEL   |   2) Atmosfera NEUTRA   |   3) Atmosfera INSTÁVEL</a:t>
            </a:r>
            <a:br/>
            <a:r>
              <a:t>Trabalho final apresentado perante a equipe de meteorologistas e previsores da Defesa Civil de Santa Catarina (DCSC).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57400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Diagnóstico Físico e Termodinâmico de Mesoescala</a:t>
            </a:r>
            <a:br/>
            <a:r>
              <a:t>Três Regimes Atmosféricos Observados</a:t>
            </a:r>
          </a:p>
          <a:p>
            <a:pPr>
              <a:spcBef>
                <a:spcPts val="400"/>
              </a:spcBef>
              <a:defRPr sz="1400">
                <a:solidFill>
                  <a:srgbClr val="38BDF8"/>
                </a:solidFill>
              </a:defRPr>
            </a:pPr>
            <a:r>
              <a:t>Temporal Severo com Granizo Gigante em Florianópolis (SBFL - 83899) em 28/08/2026 e Algoritmos de Kerry Emanuel (1994)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3429000"/>
            <a:ext cx="3291840" cy="2011680"/>
          </a:xfrm>
          <a:prstGeom prst="roundRect">
            <a:avLst/>
          </a:prstGeom>
          <a:solidFill>
            <a:srgbClr val="131E3A"/>
          </a:solidFill>
          <a:ln w="15240">
            <a:solidFill>
              <a:srgbClr val="2E4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3566160"/>
            <a:ext cx="3017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📍 3 Casos Analisados</a:t>
            </a:r>
          </a:p>
          <a:p>
            <a:pPr>
              <a:spcBef>
                <a:spcPts val="600"/>
              </a:spcBef>
              <a:defRPr sz="1050">
                <a:solidFill>
                  <a:srgbClr val="F8FAFC"/>
                </a:solidFill>
              </a:defRPr>
            </a:pPr>
            <a:r>
              <a:t>1. Estável: 26/08/2026 12Z</a:t>
            </a:r>
            <a:br/>
            <a:r>
              <a:t>2. Neutra: 31/08/2026 12Z</a:t>
            </a:r>
            <a:br/>
            <a:r>
              <a:t>3. Instável: 28/08/2026 12Z</a:t>
            </a:r>
            <a:br/>
            <a:r>
              <a:t>Estação: SBFL (Florianópolis)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3429000"/>
            <a:ext cx="3291840" cy="2011680"/>
          </a:xfrm>
          <a:prstGeom prst="roundRect">
            <a:avLst/>
          </a:prstGeom>
          <a:solidFill>
            <a:srgbClr val="131E3A"/>
          </a:solidFill>
          <a:ln w="15240">
            <a:solidFill>
              <a:srgbClr val="2E4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3566160"/>
            <a:ext cx="3017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87171"/>
                </a:solidFill>
              </a:defRPr>
            </a:pPr>
            <a:r>
              <a:t>⚡ Diagnóstico Auditado</a:t>
            </a:r>
          </a:p>
          <a:p>
            <a:pPr>
              <a:spcBef>
                <a:spcPts val="600"/>
              </a:spcBef>
              <a:defRPr sz="1050">
                <a:solidFill>
                  <a:srgbClr val="F8FAFC"/>
                </a:solidFill>
              </a:defRPr>
            </a:pPr>
            <a:r>
              <a:t>• Flutuabilidade e CAPE/CIN</a:t>
            </a:r>
            <a:br/>
            <a:r>
              <a:t>• Emanuel Tρ e Water Loading</a:t>
            </a:r>
            <a:br/>
            <a:r>
              <a:t>• Freq. Brunt-Väisälä N² e Estabilidade</a:t>
            </a:r>
            <a:br/>
            <a:r>
              <a:t>• Cisalhamento e Bunkers LM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79" y="3429000"/>
            <a:ext cx="3291840" cy="2011680"/>
          </a:xfrm>
          <a:prstGeom prst="roundRect">
            <a:avLst/>
          </a:prstGeom>
          <a:solidFill>
            <a:srgbClr val="131E3A"/>
          </a:solidFill>
          <a:ln w="15240">
            <a:solidFill>
              <a:srgbClr val="2E4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92440" y="3566160"/>
            <a:ext cx="3017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4D399"/>
                </a:solidFill>
              </a:defRPr>
            </a:pPr>
            <a:r>
              <a:t>📚 Arcabouço Teórico</a:t>
            </a:r>
          </a:p>
          <a:p>
            <a:pPr>
              <a:spcBef>
                <a:spcPts val="600"/>
              </a:spcBef>
              <a:defRPr sz="1050">
                <a:solidFill>
                  <a:srgbClr val="F8FAFC"/>
                </a:solidFill>
              </a:defRPr>
            </a:pPr>
            <a:r>
              <a:t>• Kerry Emanuel (1994)</a:t>
            </a:r>
            <a:br/>
            <a:r>
              <a:t>• MIT OCW 12.811</a:t>
            </a:r>
            <a:br/>
            <a:r>
              <a:t>• MetPy (Algoritmos Oficiais)</a:t>
            </a:r>
            <a:br/>
            <a:r>
              <a:t>• Wyoming Sounding Archive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623560"/>
            <a:ext cx="103327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94A3B8"/>
                </a:solidFill>
              </a:defRPr>
            </a:pPr>
            <a:r>
              <a:t>Orientador: Prof. Dr. Reinaldo Haas (UFSC)   •   Apresentação Final: Previsores da Defesa Civil de SC</a:t>
            </a:r>
          </a:p>
          <a:p>
            <a:pPr>
              <a:spcBef>
                <a:spcPts val="300"/>
              </a:spcBef>
              <a:defRPr sz="1000">
                <a:solidFill>
                  <a:srgbClr val="FBBF24"/>
                </a:solidFill>
              </a:defRPr>
            </a:pPr>
            <a:r>
              <a:t>⏱️ Tempo de Apresentação: 20 Minutos  |  Métricas Validadas a Partir de metricas.json (Sem Dados Sintéticos)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"/>
            <a:ext cx="6858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</a:defRPr>
            </a:pPr>
            <a:r>
              <a:t>UFSC  •  FSC7116 METEOROLOGIA DE MESOESCALA  •  PROF. REINALDO HAAS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961120" y="228600"/>
            <a:ext cx="2514600" cy="38404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50" b="1">
                <a:solidFill>
                  <a:srgbClr val="FBBF24"/>
                </a:solidFill>
              </a:defRPr>
            </a:pPr>
            <a:r>
              <a:t>⏱️  00 - 03 min  |  Slide 2/10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1078992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8FAFC"/>
                </a:solidFill>
              </a:defRPr>
            </a:pPr>
            <a:r>
              <a:t>Forçamento Sinótico &amp; Suporte Dinâmico de Mesoescala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15568"/>
            <a:ext cx="107899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94A3B8"/>
                </a:solidFill>
              </a:defRPr>
            </a:pPr>
            <a:r>
              <a:t>Acoplamento Vertical sobre a América do Sul (500 e 850 hPa) - Configuração do Ambiente Convectivo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00200"/>
            <a:ext cx="6583680" cy="47091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920240"/>
            <a:ext cx="6035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🗺️ CARTA SINÓTICA DE MESOESCALA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[carta sinótica: a fazer com reanálise real]</a:t>
            </a:r>
            <a:br/>
            <a:br/>
            <a:r>
              <a:t>Auditoria de Integridade Científica:</a:t>
            </a:r>
            <a:br/>
            <a:r>
              <a:t>• Campos analíticos sintéticos anteriores foram removidos.</a:t>
            </a:r>
            <a:br/>
            <a:r>
              <a:t>• A integração de cartas reais de reanálise (ERA5 ou NCEP de 28/08/2026 12Z) será definida com a orientação do professor.</a:t>
            </a:r>
            <a:br/>
            <a:br/>
            <a:r>
              <a:t>Evidências Observacionais na Radiossondagem (SBFL):</a:t>
            </a:r>
            <a:br/>
            <a:r>
              <a:t>• Vento em 925 hPa: 20 kt (10.3 m/s) de 340° (ENE).</a:t>
            </a:r>
            <a:br/>
            <a:r>
              <a:t>• Água Precipitável Total (PW): 40.9 mm.</a:t>
            </a:r>
            <a:br/>
            <a:r>
              <a:t>• Cisalhamento 0-6 km: 20.5 m/s (39.4 kt).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79" y="1600200"/>
            <a:ext cx="3977639" cy="4709160"/>
          </a:xfrm>
          <a:prstGeom prst="roundRect">
            <a:avLst/>
          </a:prstGeom>
          <a:solidFill>
            <a:srgbClr val="131E3A"/>
          </a:solidFill>
          <a:ln w="15240">
            <a:solidFill>
              <a:srgbClr val="2E4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0" y="1737360"/>
            <a:ext cx="361188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050" b="1">
                <a:solidFill>
                  <a:srgbClr val="38BDF8"/>
                </a:solidFill>
              </a:defRPr>
            </a:pPr>
            <a:r>
              <a:t>Nível Médio (500 hPa) - Dados Observados:</a:t>
            </a:r>
          </a:p>
          <a:p>
            <a:pPr>
              <a:spcBef>
                <a:spcPts val="200"/>
              </a:spcBef>
              <a:defRPr sz="900">
                <a:solidFill>
                  <a:srgbClr val="F8FAFC"/>
                </a:solidFill>
              </a:defRPr>
            </a:pPr>
            <a:r>
              <a:t>• A radiossondagem pontual em SBFL registra perfil termodinâmico vertical local e cisalhamento.</a:t>
            </a:r>
          </a:p>
          <a:p>
            <a:pPr>
              <a:spcBef>
                <a:spcPts val="200"/>
              </a:spcBef>
              <a:defRPr sz="900">
                <a:solidFill>
                  <a:srgbClr val="F8FAFC"/>
                </a:solidFill>
              </a:defRPr>
            </a:pPr>
            <a:r>
              <a:t>• Campos e forçamentos sinóticos em grade continental requerem reanálise oficial (ERA5 / NCEP).</a:t>
            </a:r>
          </a:p>
          <a:p>
            <a:pPr>
              <a:spcBef>
                <a:spcPts val="600"/>
              </a:spcBef>
              <a:defRPr sz="1050" b="1">
                <a:solidFill>
                  <a:srgbClr val="34D399"/>
                </a:solidFill>
              </a:defRPr>
            </a:pPr>
            <a:r>
              <a:t>Baixos Níveis (850 - 925 hPa) - Advecção Úmida Observada:</a:t>
            </a:r>
          </a:p>
          <a:p>
            <a:pPr>
              <a:spcBef>
                <a:spcPts val="200"/>
              </a:spcBef>
              <a:defRPr sz="900">
                <a:solidFill>
                  <a:srgbClr val="F8FAFC"/>
                </a:solidFill>
              </a:defRPr>
            </a:pPr>
            <a:r>
              <a:t>• Vento intenso observado em 925 hPa: 20 kt (10.3 m/s) de 340° (ENE).</a:t>
            </a:r>
          </a:p>
          <a:p>
            <a:pPr>
              <a:spcBef>
                <a:spcPts val="200"/>
              </a:spcBef>
              <a:defRPr sz="900">
                <a:solidFill>
                  <a:srgbClr val="F8FAFC"/>
                </a:solidFill>
              </a:defRPr>
            </a:pPr>
            <a:r>
              <a:t>• Transporte de umidade na camada limite com PW = 40.9 mm.</a:t>
            </a:r>
          </a:p>
          <a:p>
            <a:pPr>
              <a:spcBef>
                <a:spcPts val="200"/>
              </a:spcBef>
              <a:defRPr sz="900">
                <a:solidFill>
                  <a:srgbClr val="F8FAFC"/>
                </a:solidFill>
              </a:defRPr>
            </a:pPr>
            <a:r>
              <a:t>• Razão de mistura máxima observada no perfil: 22.0 g/kg (em 925 hPa).</a:t>
            </a:r>
          </a:p>
          <a:p>
            <a:pPr>
              <a:spcBef>
                <a:spcPts val="600"/>
              </a:spcBef>
              <a:defRPr sz="1050" b="1">
                <a:solidFill>
                  <a:srgbClr val="FBBF24"/>
                </a:solidFill>
              </a:defRPr>
            </a:pPr>
            <a:r>
              <a:t>Diretriz Metodológica:</a:t>
            </a:r>
          </a:p>
          <a:p>
            <a:pPr>
              <a:spcBef>
                <a:spcPts val="200"/>
              </a:spcBef>
              <a:defRPr sz="900">
                <a:solidFill>
                  <a:srgbClr val="F8FAFC"/>
                </a:solidFill>
              </a:defRPr>
            </a:pPr>
            <a:r>
              <a:t>• Para diagnósticos de mesoescala, campos sinóticos devem ser obtidos de reanálises oficiais (ERA5 / NCEP) para evitar reconstruções analíticas sintéticas.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"/>
            <a:ext cx="6858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</a:defRPr>
            </a:pPr>
            <a:r>
              <a:t>UFSC  •  FSC7116 METEOROLOGIA DE MESOESCALA  •  PROF. REINALDO HAAS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961120" y="228600"/>
            <a:ext cx="2514600" cy="38404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50" b="1">
                <a:solidFill>
                  <a:srgbClr val="FBBF24"/>
                </a:solidFill>
              </a:defRPr>
            </a:pPr>
            <a:r>
              <a:t>⏱️  03 - 07 min  |  Slide 3/10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1078992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8FAFC"/>
                </a:solidFill>
              </a:defRPr>
            </a:pPr>
            <a:r>
              <a:t>As Três Sondagens &amp; Três Análises: Estável (26/08) vs Neutra (31/08)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15568"/>
            <a:ext cx="107899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94A3B8"/>
                </a:solidFill>
              </a:defRPr>
            </a:pPr>
            <a:r>
              <a:t>Diagnóstico Físico dos Primeiros Casos: Atmosfera Estável e Caso Neutro em Auditoria</a:t>
            </a:r>
          </a:p>
        </p:txBody>
      </p:sp>
      <p:pic>
        <p:nvPicPr>
          <p:cNvPr id="7" name="Picture 6" descr="fig_3_soundings_complete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00200"/>
            <a:ext cx="6583680" cy="2097719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498079" y="1600200"/>
            <a:ext cx="3977639" cy="4709160"/>
          </a:xfrm>
          <a:prstGeom prst="roundRect">
            <a:avLst/>
          </a:prstGeom>
          <a:solidFill>
            <a:srgbClr val="131E3A"/>
          </a:solidFill>
          <a:ln w="15240">
            <a:solidFill>
              <a:srgbClr val="2E4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0" y="1737360"/>
            <a:ext cx="361188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050" b="1">
                <a:solidFill>
                  <a:srgbClr val="38BDF8"/>
                </a:solidFill>
              </a:defRPr>
            </a:pPr>
            <a:r>
              <a:t>ANÁLISE 1: Atmosfera Estável (26/08/2026 12Z)</a:t>
            </a:r>
          </a:p>
          <a:p>
            <a:pPr>
              <a:spcBef>
                <a:spcPts val="200"/>
              </a:spcBef>
              <a:defRPr sz="880">
                <a:solidFill>
                  <a:srgbClr val="F8FAFC"/>
                </a:solidFill>
              </a:defRPr>
            </a:pPr>
            <a:r>
              <a:t>• Perfil Observado: Camada seca em médios níveis e estratificação térmica estável.</a:t>
            </a:r>
          </a:p>
          <a:p>
            <a:pPr>
              <a:spcBef>
                <a:spcPts val="200"/>
              </a:spcBef>
              <a:defRPr sz="880">
                <a:solidFill>
                  <a:srgbClr val="F8FAFC"/>
                </a:solidFill>
              </a:defRPr>
            </a:pPr>
            <a:r>
              <a:t>• Termodinâmica MetPy: SBCAPE = 8.1 J/kg; MUCAPE = 0.0 J/kg; PW = 27.1 mm.</a:t>
            </a:r>
          </a:p>
          <a:p>
            <a:pPr>
              <a:spcBef>
                <a:spcPts val="200"/>
              </a:spcBef>
              <a:defRPr sz="880">
                <a:solidFill>
                  <a:srgbClr val="F8FAFC"/>
                </a:solidFill>
              </a:defRPr>
            </a:pPr>
            <a:r>
              <a:t>• Emanuel (1994): CAPE reversível = -3.9 J/kg; pseudo = 10.3 J/kg.</a:t>
            </a:r>
          </a:p>
          <a:p>
            <a:pPr>
              <a:spcBef>
                <a:spcPts val="200"/>
              </a:spcBef>
              <a:defRPr sz="880">
                <a:solidFill>
                  <a:srgbClr val="F8FAFC"/>
                </a:solidFill>
              </a:defRPr>
            </a:pPr>
            <a:r>
              <a:t>• Cinemática: Cisalhamento 0-6 km = 15.8 m/s (32.0 kt); SRH 0-3km LM = -24.0 m²/s².</a:t>
            </a:r>
          </a:p>
          <a:p>
            <a:pPr>
              <a:spcBef>
                <a:spcPts val="600"/>
              </a:spcBef>
              <a:defRPr sz="1050" b="1">
                <a:solidFill>
                  <a:srgbClr val="FBBF24"/>
                </a:solidFill>
              </a:defRPr>
            </a:pPr>
            <a:r>
              <a:t>ANÁLISE 2: Caso Neutro / Mod. Instável (31/08/2026 12Z)</a:t>
            </a:r>
          </a:p>
          <a:p>
            <a:pPr>
              <a:spcBef>
                <a:spcPts val="200"/>
              </a:spcBef>
              <a:defRPr sz="880">
                <a:solidFill>
                  <a:srgbClr val="F8FAFC"/>
                </a:solidFill>
              </a:defRPr>
            </a:pPr>
            <a:r>
              <a:t>• Perfil Observado: Coluna troposférica mais úmida e aquecida em relação ao caso estável.</a:t>
            </a:r>
          </a:p>
          <a:p>
            <a:pPr>
              <a:spcBef>
                <a:spcPts val="200"/>
              </a:spcBef>
              <a:defRPr sz="880">
                <a:solidFill>
                  <a:srgbClr val="F8FAFC"/>
                </a:solidFill>
              </a:defRPr>
            </a:pPr>
            <a:r>
              <a:t>• Termodinâmica Auditada: SBCAPE = 0.0 J/kg; MUCAPE = 267.1 J/kg; SBCIN = 0.0 J/kg; PW = 45.8 mm.</a:t>
            </a:r>
          </a:p>
          <a:p>
            <a:pPr>
              <a:spcBef>
                <a:spcPts val="200"/>
              </a:spcBef>
              <a:defRPr sz="880">
                <a:solidFill>
                  <a:srgbClr val="F8FAFC"/>
                </a:solidFill>
              </a:defRPr>
            </a:pPr>
            <a:r>
              <a:t>• Emanuel (1994): CAPE reversível = 0.0 J/kg; pseudo = 0.0 J/kg; DCAPE máx = 4.9 J/kg.</a:t>
            </a:r>
          </a:p>
          <a:p>
            <a:pPr>
              <a:spcBef>
                <a:spcPts val="200"/>
              </a:spcBef>
              <a:defRPr sz="880">
                <a:solidFill>
                  <a:srgbClr val="F8FAFC"/>
                </a:solidFill>
              </a:defRPr>
            </a:pPr>
            <a:r>
              <a:t>• Cinemática: Cisalhamento 0-6 km = 31.9 m/s (67.0 kt); SRH 0-3km LM = -174.7 m²/s².</a:t>
            </a:r>
          </a:p>
          <a:p>
            <a:pPr>
              <a:spcBef>
                <a:spcPts val="200"/>
              </a:spcBef>
              <a:defRPr sz="880">
                <a:solidFill>
                  <a:srgbClr val="F8FAFC"/>
                </a:solidFill>
              </a:defRPr>
            </a:pPr>
            <a:r>
              <a:t>• Nota de Classificação: Regime neutro: empuxo moderado (SBCAPE = 0 J/kg) com expressiva inibição convectiva (SBCIN = 0.0 J/kg) que impede convecção espontânea sem forçamento dinâmico.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"/>
            <a:ext cx="6858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</a:defRPr>
            </a:pPr>
            <a:r>
              <a:t>UFSC  •  FSC7116 METEOROLOGIA DE MESOESCALA  •  PROF. REINALDO HAAS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961120" y="228600"/>
            <a:ext cx="2514600" cy="38404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50" b="1">
                <a:solidFill>
                  <a:srgbClr val="FBBF24"/>
                </a:solidFill>
              </a:defRPr>
            </a:pPr>
            <a:r>
              <a:t>⏱️  03 - 07 min  |  Slide 4/10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1078992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8FAFC"/>
                </a:solidFill>
              </a:defRPr>
            </a:pPr>
            <a:r>
              <a:t>As Três Sondagens &amp; Três Análises: Atmosfera Instável (28/08) &amp; Teste de Sensibilidade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15568"/>
            <a:ext cx="107899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94A3B8"/>
                </a:solidFill>
              </a:defRPr>
            </a:pPr>
            <a:r>
              <a:t>Diagnóstico Físico: Sondagem Completa Oficial vs Teste de Sensibilidade (Sem Níveis de 925 hPa)</a:t>
            </a:r>
          </a:p>
        </p:txBody>
      </p:sp>
      <p:pic>
        <p:nvPicPr>
          <p:cNvPr id="7" name="Picture 6" descr="fig_sounding_3_instav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00200"/>
            <a:ext cx="6583680" cy="414398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498079" y="1600200"/>
            <a:ext cx="3977639" cy="4709160"/>
          </a:xfrm>
          <a:prstGeom prst="roundRect">
            <a:avLst/>
          </a:prstGeom>
          <a:solidFill>
            <a:srgbClr val="131E3A"/>
          </a:solidFill>
          <a:ln w="15240">
            <a:solidFill>
              <a:srgbClr val="2E4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0" y="1691640"/>
            <a:ext cx="3611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defRPr sz="1050" b="1">
                <a:solidFill>
                  <a:srgbClr val="F87171"/>
                </a:solidFill>
              </a:defRPr>
            </a:pPr>
            <a:r>
              <a:t>ANÁLISE 3: Atmosfera Instável (28/08/2026 12Z - Sondagem Completa)</a:t>
            </a:r>
          </a:p>
          <a:p>
            <a:pPr>
              <a:spcBef>
                <a:spcPts val="200"/>
              </a:spcBef>
              <a:defRPr sz="880">
                <a:solidFill>
                  <a:srgbClr val="F8FAFC"/>
                </a:solidFill>
              </a:defRPr>
            </a:pPr>
            <a:r>
              <a:t>• Sondagem Completa (Oficial): SBCAPE = 442.8 J/kg | MUCAPE = 1303.5 J/kg | MLCAPE = 48.5 J/kg.</a:t>
            </a:r>
          </a:p>
          <a:p>
            <a:pPr>
              <a:spcBef>
                <a:spcPts val="200"/>
              </a:spcBef>
              <a:defRPr sz="880">
                <a:solidFill>
                  <a:srgbClr val="F8FAFC"/>
                </a:solidFill>
              </a:defRPr>
            </a:pPr>
            <a:r>
              <a:t>• SBCIN = -280.0 J/kg | PW = 40.9 mm | LCL = 973.4 hPa.</a:t>
            </a:r>
          </a:p>
          <a:p>
            <a:pPr>
              <a:spcBef>
                <a:spcPts val="200"/>
              </a:spcBef>
              <a:defRPr sz="880">
                <a:solidFill>
                  <a:srgbClr val="F8FAFC"/>
                </a:solidFill>
              </a:defRPr>
            </a:pPr>
            <a:r>
              <a:t>• Vento em 925 hPa: 20 kt (10.3 m/s) de 340°.</a:t>
            </a:r>
          </a:p>
          <a:p>
            <a:pPr>
              <a:spcBef>
                <a:spcPts val="500"/>
              </a:spcBef>
              <a:defRPr sz="1050" b="1">
                <a:solidFill>
                  <a:srgbClr val="38BDF8"/>
                </a:solidFill>
              </a:defRPr>
            </a:pPr>
            <a:r>
              <a:t>TESTE DE SENSIBILIDADE DO NÍVEL DE 925 hPa:</a:t>
            </a:r>
          </a:p>
          <a:p>
            <a:pPr>
              <a:spcBef>
                <a:spcPts val="200"/>
              </a:spcBef>
              <a:defRPr sz="880">
                <a:solidFill>
                  <a:srgbClr val="F8FAFC"/>
                </a:solidFill>
              </a:defRPr>
            </a:pPr>
            <a:r>
              <a:t>• A sondagem oficial apresenta em 925 hPa: T = 30°C, Td = 25°C e vento de 44 kt.</a:t>
            </a:r>
          </a:p>
          <a:p>
            <a:pPr>
              <a:spcBef>
                <a:spcPts val="200"/>
              </a:spcBef>
              <a:defRPr sz="880">
                <a:solidFill>
                  <a:srgbClr val="F8FAFC"/>
                </a:solidFill>
              </a:defRPr>
            </a:pPr>
            <a:r>
              <a:t>• Camadas com gradiente superadiabático: 925→910.5 hPa (Γ = 17.65 K/km) e 910.5→850 hPa (Γ = 17.88 K/km).</a:t>
            </a:r>
          </a:p>
          <a:p>
            <a:pPr>
              <a:spcBef>
                <a:spcPts val="200"/>
              </a:spcBef>
              <a:defRPr sz="880">
                <a:solidFill>
                  <a:srgbClr val="F8FAFC"/>
                </a:solidFill>
              </a:defRPr>
            </a:pPr>
            <a:r>
              <a:t>• Teste de Sensibilidade (sem níveis próximos a 925 hPa): MUCAPE = 1109.5 J/kg | SBCAPE = 446.4 J/kg | PW = 40.2 mm.</a:t>
            </a:r>
          </a:p>
          <a:p>
            <a:pPr>
              <a:spcBef>
                <a:spcPts val="200"/>
              </a:spcBef>
              <a:defRPr sz="880">
                <a:solidFill>
                  <a:srgbClr val="F8FAFC"/>
                </a:solidFill>
              </a:defRPr>
            </a:pPr>
            <a:r>
              <a:t>• Ambas as soluções são apresentadas para discussão técnica com os previsores da Defesa Civil de SC.</a:t>
            </a:r>
          </a:p>
          <a:p>
            <a:pPr>
              <a:spcBef>
                <a:spcPts val="500"/>
              </a:spcBef>
              <a:defRPr sz="1050" b="1">
                <a:solidFill>
                  <a:srgbClr val="FBBF24"/>
                </a:solidFill>
              </a:defRPr>
            </a:pPr>
            <a:r>
              <a:t>MATRIZ COMPARATIVA DOS TRÊS CASOS (OFICIAL):</a:t>
            </a:r>
          </a:p>
          <a:p>
            <a:pPr>
              <a:spcBef>
                <a:spcPts val="200"/>
              </a:spcBef>
              <a:defRPr sz="880">
                <a:solidFill>
                  <a:srgbClr val="F8FAFC"/>
                </a:solidFill>
              </a:defRPr>
            </a:pPr>
            <a:r>
              <a:t>• • Estável (26/08): SBCAPE = 8.1 J/kg | Shear 0-6km = 15.8 m/s</a:t>
            </a:r>
          </a:p>
          <a:p>
            <a:pPr>
              <a:spcBef>
                <a:spcPts val="200"/>
              </a:spcBef>
              <a:defRPr sz="880">
                <a:solidFill>
                  <a:srgbClr val="F8FAFC"/>
                </a:solidFill>
              </a:defRPr>
            </a:pPr>
            <a:r>
              <a:t>• • Neutra (31/08): SBCAPE = 0.0 J/kg | Shear 0-6km = 31.9 m/s</a:t>
            </a:r>
          </a:p>
          <a:p>
            <a:pPr>
              <a:spcBef>
                <a:spcPts val="200"/>
              </a:spcBef>
              <a:defRPr sz="880">
                <a:solidFill>
                  <a:srgbClr val="F8FAFC"/>
                </a:solidFill>
              </a:defRPr>
            </a:pPr>
            <a:r>
              <a:t>• • Instável (28/08): SBCAPE = 442.8 J/kg | Shear 0-6km = 20.5 m/s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"/>
            <a:ext cx="6858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</a:defRPr>
            </a:pPr>
            <a:r>
              <a:t>UFSC  •  FSC7116 METEOROLOGIA DE MESOESCALA  •  PROF. REINALDO HAAS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961120" y="228600"/>
            <a:ext cx="2514600" cy="38404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50" b="1">
                <a:solidFill>
                  <a:srgbClr val="FBBF24"/>
                </a:solidFill>
              </a:defRPr>
            </a:pPr>
            <a:r>
              <a:t>⏱️  07 - 10 min  |  Slide 5/10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1078992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8FAFC"/>
                </a:solidFill>
              </a:defRPr>
            </a:pPr>
            <a:r>
              <a:t>Teoria de Emanuel (1994) &amp; Matrizes 2D das Três Sondagens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15568"/>
            <a:ext cx="107899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94A3B8"/>
                </a:solidFill>
              </a:defRPr>
            </a:pPr>
            <a:r>
              <a:t>Comparação Tríplice: Anomalia de Temp. de Densidade (Tρ), Water Loading (-rl) e Flutuabilidade</a:t>
            </a:r>
          </a:p>
        </p:txBody>
      </p:sp>
      <p:pic>
        <p:nvPicPr>
          <p:cNvPr id="7" name="Picture 6" descr="fig_3_soundings_emanuel_matri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00200"/>
            <a:ext cx="6583680" cy="450489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498079" y="1600200"/>
            <a:ext cx="3977639" cy="4709160"/>
          </a:xfrm>
          <a:prstGeom prst="roundRect">
            <a:avLst/>
          </a:prstGeom>
          <a:solidFill>
            <a:srgbClr val="131E3A"/>
          </a:solidFill>
          <a:ln w="15240">
            <a:solidFill>
              <a:srgbClr val="2E4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0" y="1737360"/>
            <a:ext cx="361188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100" b="1">
                <a:solidFill>
                  <a:srgbClr val="38BDF8"/>
                </a:solidFill>
              </a:defRPr>
            </a:pPr>
            <a:r>
              <a:t>Fundamentação Teórica - Kerry Emanuel (1994):</a:t>
            </a:r>
          </a:p>
          <a:p>
            <a:pPr>
              <a:spcBef>
                <a:spcPts val="200"/>
              </a:spcBef>
              <a:defRPr sz="910">
                <a:solidFill>
                  <a:srgbClr val="F8FAFC"/>
                </a:solidFill>
              </a:defRPr>
            </a:pPr>
            <a:r>
              <a:t>• Referência: Kerry Emanuel (1994), 'Atmospheric Convection', Oxford Univ. Press (Cap. 4 e 6).</a:t>
            </a:r>
          </a:p>
          <a:p>
            <a:pPr>
              <a:spcBef>
                <a:spcPts val="200"/>
              </a:spcBef>
              <a:defRPr sz="910">
                <a:solidFill>
                  <a:srgbClr val="F8FAFC"/>
                </a:solidFill>
              </a:defRPr>
            </a:pPr>
            <a:r>
              <a:t>• Disciplina de referência: MIT OCW 12.811.</a:t>
            </a:r>
          </a:p>
          <a:p>
            <a:pPr>
              <a:spcBef>
                <a:spcPts val="200"/>
              </a:spcBef>
              <a:defRPr sz="910">
                <a:solidFill>
                  <a:srgbClr val="F8FAFC"/>
                </a:solidFill>
              </a:defRPr>
            </a:pPr>
            <a:r>
              <a:t>• Algoritmo: rotinas wyoming.f / tcon_emanuel.py calculando matrizes tdifrev (Tρ) e tdifpseudo (Tv).</a:t>
            </a:r>
          </a:p>
          <a:p>
            <a:pPr>
              <a:spcBef>
                <a:spcPts val="600"/>
              </a:spcBef>
              <a:defRPr sz="1100" b="1">
                <a:solidFill>
                  <a:srgbClr val="FBBF24"/>
                </a:solidFill>
              </a:defRPr>
            </a:pPr>
            <a:r>
              <a:t>Temperatura de Densidade (Tρ) &amp; Water Loading:</a:t>
            </a:r>
          </a:p>
          <a:p>
            <a:pPr>
              <a:spcBef>
                <a:spcPts val="200"/>
              </a:spcBef>
              <a:defRPr sz="910">
                <a:solidFill>
                  <a:srgbClr val="F8FAFC"/>
                </a:solidFill>
              </a:defRPr>
            </a:pPr>
            <a:r>
              <a:t>• Tρ = T · (1 + rv/ε) / (1 + rv + rl) ≈ Tv · (1 - rl)</a:t>
            </a:r>
          </a:p>
          <a:p>
            <a:pPr>
              <a:spcBef>
                <a:spcPts val="200"/>
              </a:spcBef>
              <a:defRPr sz="910">
                <a:solidFill>
                  <a:srgbClr val="F8FAFC"/>
                </a:solidFill>
              </a:defRPr>
            </a:pPr>
            <a:r>
              <a:t>• O peso dos hidrometeoros retidos na parcela (-rl) reduz a flutuabilidade real em relação ao cálculo pseudoadiabático.</a:t>
            </a:r>
          </a:p>
          <a:p>
            <a:pPr>
              <a:spcBef>
                <a:spcPts val="600"/>
              </a:spcBef>
              <a:defRPr sz="1100" b="1">
                <a:solidFill>
                  <a:srgbClr val="34D399"/>
                </a:solidFill>
              </a:defRPr>
            </a:pPr>
            <a:r>
              <a:t>Resultados Auditados nas Três Sondagens:</a:t>
            </a:r>
          </a:p>
          <a:p>
            <a:pPr>
              <a:spcBef>
                <a:spcPts val="200"/>
              </a:spcBef>
              <a:defRPr sz="910">
                <a:solidFill>
                  <a:srgbClr val="F8FAFC"/>
                </a:solidFill>
              </a:defRPr>
            </a:pPr>
            <a:r>
              <a:t>• 26/08 (Estável): Tρ negativo em quase toda a coluna. CAPE rev = -3.9 J/kg; pseudo = 10.3 J/kg.</a:t>
            </a:r>
          </a:p>
          <a:p>
            <a:pPr>
              <a:spcBef>
                <a:spcPts val="200"/>
              </a:spcBef>
              <a:defRPr sz="910">
                <a:solidFill>
                  <a:srgbClr val="F8FAFC"/>
                </a:solidFill>
              </a:defRPr>
            </a:pPr>
            <a:r>
              <a:t>• 31/08 (Neutra): Camada de empuxo positiva moderada. CAPE rev = 0.0 J/kg; pseudo = 0.0 J/kg.</a:t>
            </a:r>
          </a:p>
          <a:p>
            <a:pPr>
              <a:spcBef>
                <a:spcPts val="200"/>
              </a:spcBef>
              <a:defRPr sz="910">
                <a:solidFill>
                  <a:srgbClr val="F8FAFC"/>
                </a:solidFill>
              </a:defRPr>
            </a:pPr>
            <a:r>
              <a:t>• 28/08 (Instável): Na superfície, CAPE rev = -557.4 J/kg vs pseudo = 57.4 J/kg. No pico de 925 hPa, atinge 0.0 J/kg (rev) e 57.4 J/kg (pseudo).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"/>
            <a:ext cx="6858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</a:defRPr>
            </a:pPr>
            <a:r>
              <a:t>UFSC  •  FSC7116 METEOROLOGIA DE MESOESCALA  •  PROF. REINALDO HAAS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961120" y="228600"/>
            <a:ext cx="2514600" cy="38404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50" b="1">
                <a:solidFill>
                  <a:srgbClr val="FBBF24"/>
                </a:solidFill>
              </a:defRPr>
            </a:pPr>
            <a:r>
              <a:t>⏱️  10 - 14 min  |  Slide 6/10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1078992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8FAFC"/>
                </a:solidFill>
              </a:defRPr>
            </a:pPr>
            <a:r>
              <a:t>Perfis Verticais de Mesoescala: θ, θe, θs, N, S e 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15568"/>
            <a:ext cx="107899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94A3B8"/>
                </a:solidFill>
              </a:defRPr>
            </a:pPr>
            <a:r>
              <a:t>Comparação dos Três Regimes Atmosféricos em Florianópolis (SBFL - 83899) - Topo em 200 hPa</a:t>
            </a:r>
          </a:p>
        </p:txBody>
      </p:sp>
      <p:pic>
        <p:nvPicPr>
          <p:cNvPr id="7" name="Picture 6" descr="fig_3_soundings_profiles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00200"/>
            <a:ext cx="6583680" cy="4004683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498079" y="1600200"/>
            <a:ext cx="3977639" cy="4709160"/>
          </a:xfrm>
          <a:prstGeom prst="roundRect">
            <a:avLst/>
          </a:prstGeom>
          <a:solidFill>
            <a:srgbClr val="131E3A"/>
          </a:solidFill>
          <a:ln w="15240">
            <a:solidFill>
              <a:srgbClr val="2E4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0" y="1737360"/>
            <a:ext cx="361188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100" b="1">
                <a:solidFill>
                  <a:srgbClr val="38BDF8"/>
                </a:solidFill>
              </a:defRPr>
            </a:pPr>
            <a:r>
              <a:t>Temperatura Potencial Equivalente (θe):</a:t>
            </a:r>
          </a:p>
          <a:p>
            <a:pPr>
              <a:spcBef>
                <a:spcPts val="200"/>
              </a:spcBef>
              <a:defRPr sz="930">
                <a:solidFill>
                  <a:srgbClr val="F8FAFC"/>
                </a:solidFill>
              </a:defRPr>
            </a:pPr>
            <a:r>
              <a:t>• Superfície: 26/08 = 319.2 K | 31/08 = 326.9 K | 28/08 = 333.9 K (em 925 hPa).</a:t>
            </a:r>
          </a:p>
          <a:p>
            <a:pPr>
              <a:spcBef>
                <a:spcPts val="200"/>
              </a:spcBef>
              <a:defRPr sz="930">
                <a:solidFill>
                  <a:srgbClr val="F8FAFC"/>
                </a:solidFill>
              </a:defRPr>
            </a:pPr>
            <a:r>
              <a:t>• Instabilidade Convectiva: Camada com ∂θe/∂z &lt; 0 bem estabelecida nos dias 22 e 28/08.</a:t>
            </a:r>
          </a:p>
          <a:p>
            <a:pPr>
              <a:spcBef>
                <a:spcPts val="600"/>
              </a:spcBef>
              <a:defRPr sz="1100" b="1">
                <a:solidFill>
                  <a:srgbClr val="FBBF24"/>
                </a:solidFill>
              </a:defRPr>
            </a:pPr>
            <a:r>
              <a:t>Frequência de Brunt-Väisälä (N²):</a:t>
            </a:r>
          </a:p>
          <a:p>
            <a:pPr>
              <a:spcBef>
                <a:spcPts val="200"/>
              </a:spcBef>
              <a:defRPr sz="930">
                <a:solidFill>
                  <a:srgbClr val="F8FAFC"/>
                </a:solidFill>
              </a:defRPr>
            </a:pPr>
            <a:r>
              <a:t>• N² = (g / θv) · (∂θv / ∂z).</a:t>
            </a:r>
          </a:p>
          <a:p>
            <a:pPr>
              <a:spcBef>
                <a:spcPts val="200"/>
              </a:spcBef>
              <a:defRPr sz="930">
                <a:solidFill>
                  <a:srgbClr val="F8FAFC"/>
                </a:solidFill>
              </a:defRPr>
            </a:pPr>
            <a:r>
              <a:t>• No caso de 28/08, camada com N² elevado próximo a 925 hPa denota forte estabilidade estática local.</a:t>
            </a:r>
          </a:p>
          <a:p>
            <a:pPr>
              <a:spcBef>
                <a:spcPts val="200"/>
              </a:spcBef>
              <a:defRPr sz="930">
                <a:solidFill>
                  <a:srgbClr val="F8FAFC"/>
                </a:solidFill>
              </a:defRPr>
            </a:pPr>
            <a:r>
              <a:t>• Gera barreira à convecção livre a partir de parcelas superficiais.</a:t>
            </a:r>
          </a:p>
          <a:p>
            <a:pPr>
              <a:spcBef>
                <a:spcPts val="600"/>
              </a:spcBef>
              <a:defRPr sz="1100" b="1">
                <a:solidFill>
                  <a:srgbClr val="34D399"/>
                </a:solidFill>
              </a:defRPr>
            </a:pPr>
            <a:r>
              <a:t>Estabilidade Estática (S) e Razão de Mistura (r):</a:t>
            </a:r>
          </a:p>
          <a:p>
            <a:pPr>
              <a:spcBef>
                <a:spcPts val="200"/>
              </a:spcBef>
              <a:defRPr sz="930">
                <a:solidFill>
                  <a:srgbClr val="F8FAFC"/>
                </a:solidFill>
              </a:defRPr>
            </a:pPr>
            <a:r>
              <a:t>• S(p) = - (T / θ) · (∂θ / ∂p).</a:t>
            </a:r>
          </a:p>
          <a:p>
            <a:pPr>
              <a:spcBef>
                <a:spcPts val="200"/>
              </a:spcBef>
              <a:defRPr sz="930">
                <a:solidFill>
                  <a:srgbClr val="F8FAFC"/>
                </a:solidFill>
              </a:defRPr>
            </a:pPr>
            <a:r>
              <a:t>• Razão de mistura máxima em 28/08 atinge 22.0 g/kg em 925 hPa.</a:t>
            </a:r>
          </a:p>
          <a:p>
            <a:pPr>
              <a:spcBef>
                <a:spcPts val="200"/>
              </a:spcBef>
              <a:defRPr sz="930">
                <a:solidFill>
                  <a:srgbClr val="F8FAFC"/>
                </a:solidFill>
              </a:defRPr>
            </a:pPr>
            <a:r>
              <a:t>• Água Precipitável Total (PW): 40.9 mm no dia 28/08 vs 27.1 mm no dia 26/08.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"/>
            <a:ext cx="6858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</a:defRPr>
            </a:pPr>
            <a:r>
              <a:t>UFSC  •  FSC7116 METEOROLOGIA DE MESOESCALA  •  PROF. REINALDO HAAS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961120" y="228600"/>
            <a:ext cx="2514600" cy="38404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50" b="1">
                <a:solidFill>
                  <a:srgbClr val="FBBF24"/>
                </a:solidFill>
              </a:defRPr>
            </a:pPr>
            <a:r>
              <a:t>⏱️  10 - 14 min  |  Slide 7/10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1078992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8FAFC"/>
                </a:solidFill>
              </a:defRPr>
            </a:pPr>
            <a:r>
              <a:t>Diagnóstico Termodinâmico Vertical (Emanuel 1994, Cap. 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15568"/>
            <a:ext cx="107899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94A3B8"/>
                </a:solidFill>
              </a:defRPr>
            </a:pPr>
            <a:r>
              <a:t>Perfis de θ, θe, θs, Brunt-Väisälä N², Umidade e DCAPE para 28/08/2026 12Z</a:t>
            </a:r>
          </a:p>
        </p:txBody>
      </p:sp>
      <p:pic>
        <p:nvPicPr>
          <p:cNvPr id="7" name="Picture 6" descr="fig_cap2_profi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00200"/>
            <a:ext cx="6583680" cy="2725391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498079" y="1600200"/>
            <a:ext cx="3977639" cy="4709160"/>
          </a:xfrm>
          <a:prstGeom prst="roundRect">
            <a:avLst/>
          </a:prstGeom>
          <a:solidFill>
            <a:srgbClr val="131E3A"/>
          </a:solidFill>
          <a:ln w="15240">
            <a:solidFill>
              <a:srgbClr val="2E4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0" y="1737360"/>
            <a:ext cx="361188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100" b="1">
                <a:solidFill>
                  <a:srgbClr val="38BDF8"/>
                </a:solidFill>
              </a:defRPr>
            </a:pPr>
            <a:r>
              <a:t>Perfis Térmicos (θ, θe, θes):</a:t>
            </a:r>
          </a:p>
          <a:p>
            <a:pPr>
              <a:spcBef>
                <a:spcPts val="200"/>
              </a:spcBef>
              <a:defRPr sz="930">
                <a:solidFill>
                  <a:srgbClr val="F8FAFC"/>
                </a:solidFill>
              </a:defRPr>
            </a:pPr>
            <a:r>
              <a:t>• θ (Potencial): Cresce com a altura (estratificação estática estável para deslocamentos secos).</a:t>
            </a:r>
          </a:p>
          <a:p>
            <a:pPr>
              <a:spcBef>
                <a:spcPts val="200"/>
              </a:spcBef>
              <a:defRPr sz="930">
                <a:solidFill>
                  <a:srgbClr val="F8FAFC"/>
                </a:solidFill>
              </a:defRPr>
            </a:pPr>
            <a:r>
              <a:t>• θe (Equivalente): Mínimo pronunciado em médios níveis (~600 hPa).</a:t>
            </a:r>
          </a:p>
          <a:p>
            <a:pPr>
              <a:spcBef>
                <a:spcPts val="200"/>
              </a:spcBef>
              <a:defRPr sz="930">
                <a:solidFill>
                  <a:srgbClr val="F8FAFC"/>
                </a:solidFill>
              </a:defRPr>
            </a:pPr>
            <a:r>
              <a:t>• Indica instabilidade condicional na coluna troposférica.</a:t>
            </a:r>
          </a:p>
          <a:p>
            <a:pPr>
              <a:spcBef>
                <a:spcPts val="600"/>
              </a:spcBef>
              <a:defRPr sz="1100" b="1">
                <a:solidFill>
                  <a:srgbClr val="34D399"/>
                </a:solidFill>
              </a:defRPr>
            </a:pPr>
            <a:r>
              <a:t>Água Precipitável Total (PW):</a:t>
            </a:r>
          </a:p>
          <a:p>
            <a:pPr>
              <a:spcBef>
                <a:spcPts val="200"/>
              </a:spcBef>
              <a:defRPr sz="930">
                <a:solidFill>
                  <a:srgbClr val="F8FAFC"/>
                </a:solidFill>
              </a:defRPr>
            </a:pPr>
            <a:r>
              <a:t>• PW calculado via MetPy: 40.9 mm (Sondagem completa) / 40.2 mm (Sensibilidade).</a:t>
            </a:r>
          </a:p>
          <a:p>
            <a:pPr>
              <a:spcBef>
                <a:spcPts val="200"/>
              </a:spcBef>
              <a:defRPr sz="930">
                <a:solidFill>
                  <a:srgbClr val="F8FAFC"/>
                </a:solidFill>
              </a:defRPr>
            </a:pPr>
            <a:r>
              <a:t>• Conteúdo de umidade expressivo associado ao escoamento em baixos níveis.</a:t>
            </a:r>
          </a:p>
          <a:p>
            <a:pPr>
              <a:spcBef>
                <a:spcPts val="200"/>
              </a:spcBef>
              <a:defRPr sz="930">
                <a:solidFill>
                  <a:srgbClr val="F8FAFC"/>
                </a:solidFill>
              </a:defRPr>
            </a:pPr>
            <a:r>
              <a:t>• Indica elevado potencial de condensação na coluna vertical.</a:t>
            </a:r>
          </a:p>
          <a:p>
            <a:pPr>
              <a:spcBef>
                <a:spcPts val="600"/>
              </a:spcBef>
              <a:defRPr sz="1100" b="1">
                <a:solidFill>
                  <a:srgbClr val="F87171"/>
                </a:solidFill>
              </a:defRPr>
            </a:pPr>
            <a:r>
              <a:t>Downdraft CAPE (DCAPE) - Três Métodos para 28/08:</a:t>
            </a:r>
          </a:p>
          <a:p>
            <a:pPr>
              <a:spcBef>
                <a:spcPts val="200"/>
              </a:spcBef>
              <a:defRPr sz="930">
                <a:solidFill>
                  <a:srgbClr val="F8FAFC"/>
                </a:solidFill>
              </a:defRPr>
            </a:pPr>
            <a:r>
              <a:t>• 1. Wyoming (Página INDICES): 1189.7 J/kg.</a:t>
            </a:r>
          </a:p>
          <a:p>
            <a:pPr>
              <a:spcBef>
                <a:spcPts val="200"/>
              </a:spcBef>
              <a:defRPr sz="930">
                <a:solidFill>
                  <a:srgbClr val="F8FAFC"/>
                </a:solidFill>
              </a:defRPr>
            </a:pPr>
            <a:r>
              <a:t>• 2. MetPy (mpcalc.downdraft_cape): 1217.1 J/kg (coluna a partir do mín. θe).</a:t>
            </a:r>
          </a:p>
          <a:p>
            <a:pPr>
              <a:spcBef>
                <a:spcPts val="200"/>
              </a:spcBef>
              <a:defRPr sz="930">
                <a:solidFill>
                  <a:srgbClr val="F8FAFC"/>
                </a:solidFill>
              </a:defRPr>
            </a:pPr>
            <a:r>
              <a:t>• 3. Emanuel (cape.out, máx. sobre origens): 47.3 J/kg (origem em 905 hPa; 0.0 J/kg na SFC).</a:t>
            </a:r>
          </a:p>
          <a:p>
            <a:pPr>
              <a:spcBef>
                <a:spcPts val="200"/>
              </a:spcBef>
              <a:defRPr sz="930">
                <a:solidFill>
                  <a:srgbClr val="F8FAFC"/>
                </a:solidFill>
              </a:defRPr>
            </a:pPr>
            <a:r>
              <a:t>• Três formulações físicas distintas e legítimas de empuxo negativo de correntes descendentes.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"/>
            <a:ext cx="6858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</a:defRPr>
            </a:pPr>
            <a:r>
              <a:t>UFSC  •  FSC7116 METEOROLOGIA DE MESOESCALA  •  PROF. REINALDO HAAS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961120" y="228600"/>
            <a:ext cx="2514600" cy="38404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50" b="1">
                <a:solidFill>
                  <a:srgbClr val="FBBF24"/>
                </a:solidFill>
              </a:defRPr>
            </a:pPr>
            <a:r>
              <a:t>⏱️  14 - 17 min  |  Slide 8/10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1078992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8FAFC"/>
                </a:solidFill>
              </a:defRPr>
            </a:pPr>
            <a:r>
              <a:t>Cinemática &amp; Dinâmica: Hodógrafo, JBN e Helicidade (SRH)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15568"/>
            <a:ext cx="107899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94A3B8"/>
                </a:solidFill>
              </a:defRPr>
            </a:pPr>
            <a:r>
              <a:t>Curvatura do Vento na Baixa Troposfera, Cisalhamento Vertical e Vetor Bunkers no Hemisfério Sul</a:t>
            </a:r>
          </a:p>
        </p:txBody>
      </p:sp>
      <p:pic>
        <p:nvPicPr>
          <p:cNvPr id="7" name="Picture 6" descr="fig_kinematics_hodograp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00200"/>
            <a:ext cx="6583680" cy="6718783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498079" y="1600200"/>
            <a:ext cx="3977639" cy="4709160"/>
          </a:xfrm>
          <a:prstGeom prst="roundRect">
            <a:avLst/>
          </a:prstGeom>
          <a:solidFill>
            <a:srgbClr val="131E3A"/>
          </a:solidFill>
          <a:ln w="15240">
            <a:solidFill>
              <a:srgbClr val="2E4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0" y="1737360"/>
            <a:ext cx="361188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100" b="1">
                <a:solidFill>
                  <a:srgbClr val="FBBF24"/>
                </a:solidFill>
              </a:defRPr>
            </a:pPr>
            <a:r>
              <a:t>Vento em Baixos Níveis (925 hPa):</a:t>
            </a:r>
          </a:p>
          <a:p>
            <a:pPr>
              <a:spcBef>
                <a:spcPts val="200"/>
              </a:spcBef>
              <a:defRPr sz="910">
                <a:solidFill>
                  <a:srgbClr val="F8FAFC"/>
                </a:solidFill>
              </a:defRPr>
            </a:pPr>
            <a:r>
              <a:t>• Intensidade: 20 kt (10.3 m/s) de direção 340° (ENE).</a:t>
            </a:r>
          </a:p>
          <a:p>
            <a:pPr>
              <a:spcBef>
                <a:spcPts val="200"/>
              </a:spcBef>
              <a:defRPr sz="910">
                <a:solidFill>
                  <a:srgbClr val="F8FAFC"/>
                </a:solidFill>
              </a:defRPr>
            </a:pPr>
            <a:r>
              <a:t>• Cria curvatura acentuada no hodógrafo na camada limite.</a:t>
            </a:r>
          </a:p>
          <a:p>
            <a:pPr>
              <a:spcBef>
                <a:spcPts val="200"/>
              </a:spcBef>
              <a:defRPr sz="910">
                <a:solidFill>
                  <a:srgbClr val="F8FAFC"/>
                </a:solidFill>
              </a:defRPr>
            </a:pPr>
            <a:r>
              <a:t>• Fornece forte influxo de calor e vapor d'água.</a:t>
            </a:r>
          </a:p>
          <a:p>
            <a:pPr>
              <a:spcBef>
                <a:spcPts val="600"/>
              </a:spcBef>
              <a:defRPr sz="1100" b="1">
                <a:solidFill>
                  <a:srgbClr val="38BDF8"/>
                </a:solidFill>
              </a:defRPr>
            </a:pPr>
            <a:r>
              <a:t>Cisalhamento Vertical Profundo (Bulk Shear):</a:t>
            </a:r>
          </a:p>
          <a:p>
            <a:pPr>
              <a:spcBef>
                <a:spcPts val="200"/>
              </a:spcBef>
              <a:defRPr sz="910">
                <a:solidFill>
                  <a:srgbClr val="F8FAFC"/>
                </a:solidFill>
              </a:defRPr>
            </a:pPr>
            <a:r>
              <a:t>• 0-1 km: 8.5 m/s (27.0 kt).</a:t>
            </a:r>
          </a:p>
          <a:p>
            <a:pPr>
              <a:spcBef>
                <a:spcPts val="200"/>
              </a:spcBef>
              <a:defRPr sz="910">
                <a:solidFill>
                  <a:srgbClr val="F8FAFC"/>
                </a:solidFill>
              </a:defRPr>
            </a:pPr>
            <a:r>
              <a:t>• 0-3 km: 18.2 m/s (35.4 kt).</a:t>
            </a:r>
          </a:p>
          <a:p>
            <a:pPr>
              <a:spcBef>
                <a:spcPts val="200"/>
              </a:spcBef>
              <a:defRPr sz="910">
                <a:solidFill>
                  <a:srgbClr val="F8FAFC"/>
                </a:solidFill>
              </a:defRPr>
            </a:pPr>
            <a:r>
              <a:t>• 0-6 km: 20.5 m/s (39.4 kt) [Auditado via MetPy].</a:t>
            </a:r>
          </a:p>
          <a:p>
            <a:pPr>
              <a:spcBef>
                <a:spcPts val="600"/>
              </a:spcBef>
              <a:defRPr sz="1100" b="1">
                <a:solidFill>
                  <a:srgbClr val="34D399"/>
                </a:solidFill>
              </a:defRPr>
            </a:pPr>
            <a:r>
              <a:t>Dinâmica no Hemisfério Sul &amp; Bunkers Left-Mover:</a:t>
            </a:r>
          </a:p>
          <a:p>
            <a:pPr>
              <a:spcBef>
                <a:spcPts val="200"/>
              </a:spcBef>
              <a:defRPr sz="910">
                <a:solidFill>
                  <a:srgbClr val="F8FAFC"/>
                </a:solidFill>
              </a:defRPr>
            </a:pPr>
            <a:r>
              <a:t>• Vetor Bunkers LM: (12.4, -3.9) m/s [25.3 kt de 288°].</a:t>
            </a:r>
          </a:p>
          <a:p>
            <a:pPr>
              <a:spcBef>
                <a:spcPts val="200"/>
              </a:spcBef>
              <a:defRPr sz="910">
                <a:solidFill>
                  <a:srgbClr val="F8FAFC"/>
                </a:solidFill>
              </a:defRPr>
            </a:pPr>
            <a:r>
              <a:t>• SRH 0-1 km (LM): -180.9 m²/s².</a:t>
            </a:r>
          </a:p>
          <a:p>
            <a:pPr>
              <a:spcBef>
                <a:spcPts val="200"/>
              </a:spcBef>
              <a:defRPr sz="910">
                <a:solidFill>
                  <a:srgbClr val="F8FAFC"/>
                </a:solidFill>
              </a:defRPr>
            </a:pPr>
            <a:r>
              <a:t>• SRH 0-3 km (LM): -336.3 m²/s².</a:t>
            </a:r>
          </a:p>
          <a:p>
            <a:pPr>
              <a:spcBef>
                <a:spcPts val="200"/>
              </a:spcBef>
              <a:defRPr sz="910">
                <a:solidFill>
                  <a:srgbClr val="F8FAFC"/>
                </a:solidFill>
              </a:defRPr>
            </a:pPr>
            <a:r>
              <a:t>• No Hemisfério Sul, a rotação ciclônica possui helicidade negativa associada ao Left-Mover.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"/>
            <a:ext cx="6858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</a:defRPr>
            </a:pPr>
            <a:r>
              <a:t>UFSC  •  FSC7116 METEOROLOGIA DE MESOESCALA  •  PROF. REINALDO HAAS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961120" y="228600"/>
            <a:ext cx="2514600" cy="38404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50" b="1">
                <a:solidFill>
                  <a:srgbClr val="FBBF24"/>
                </a:solidFill>
              </a:defRPr>
            </a:pPr>
            <a:r>
              <a:t>⏱️  17 - 19 min  |  Slide 9/10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1078992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8FAFC"/>
                </a:solidFill>
              </a:defRPr>
            </a:pPr>
            <a:r>
              <a:t>Monitoramento por Satélite: Resolução Espacial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15568"/>
            <a:ext cx="107899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94A3B8"/>
                </a:solidFill>
              </a:defRPr>
            </a:pPr>
            <a:r>
              <a:t>Limitações da Grade de 1° (ISCCP) vs Necessidades de Mesoescala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00200"/>
            <a:ext cx="6583680" cy="47091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920240"/>
            <a:ext cx="6035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🛰️ RESOLUÇÃO ESPACIAL EM SATÉLITE E MESOESCALA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Limitação Física e Espacial de Grades Climatológicas:</a:t>
            </a:r>
            <a:br/>
            <a:br/>
            <a:r>
              <a:t>• A grade ISCCP-H de 1° (~110 km) promedia a temperatura de brilho sobre áreas muito superiores às células convectivas individuais.</a:t>
            </a:r>
            <a:br/>
            <a:r>
              <a:t>• Topos de nuvens com convecção profunda e temperaturas de brilho inferiores a -60 °C são diluídos quando integrados com áreas vizinhas sem nuvens, mascarando a severidade real do sistema.</a:t>
            </a:r>
            <a:br/>
            <a:br/>
            <a:r>
              <a:t>Critério de Validação Operacional:</a:t>
            </a:r>
            <a:br/>
            <a:r>
              <a:t>• Para monitoramento em mesoescala e defesa civil, produtos de resolução fina (como GOES em ~0,07° / ~8 km ou sensores modernos em 2 km) são indispensáveis para detectar núcleos ascendentes e overshooting tops.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79" y="1600200"/>
            <a:ext cx="3977639" cy="4709160"/>
          </a:xfrm>
          <a:prstGeom prst="roundRect">
            <a:avLst/>
          </a:prstGeom>
          <a:solidFill>
            <a:srgbClr val="131E3A"/>
          </a:solidFill>
          <a:ln w="15240">
            <a:solidFill>
              <a:srgbClr val="2E4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0" y="1737360"/>
            <a:ext cx="361188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050" b="1">
                <a:solidFill>
                  <a:srgbClr val="38BDF8"/>
                </a:solidFill>
              </a:defRPr>
            </a:pPr>
            <a:r>
              <a:t>Impacto da Resolução Espacial:</a:t>
            </a:r>
          </a:p>
          <a:p>
            <a:pPr>
              <a:spcBef>
                <a:spcPts val="200"/>
              </a:spcBef>
              <a:defRPr sz="900">
                <a:solidFill>
                  <a:srgbClr val="F8FAFC"/>
                </a:solidFill>
              </a:defRPr>
            </a:pPr>
            <a:r>
              <a:t>• Grades de 1° (~110 km): realizam média espacial que suaviza extremos térmicos.</a:t>
            </a:r>
          </a:p>
          <a:p>
            <a:pPr>
              <a:spcBef>
                <a:spcPts val="200"/>
              </a:spcBef>
              <a:defRPr sz="900">
                <a:solidFill>
                  <a:srgbClr val="F8FAFC"/>
                </a:solidFill>
              </a:defRPr>
            </a:pPr>
            <a:r>
              <a:t>• Diluição de topos: topos convectivos frios perdem contraste térmico.</a:t>
            </a:r>
          </a:p>
          <a:p>
            <a:pPr>
              <a:spcBef>
                <a:spcPts val="200"/>
              </a:spcBef>
              <a:defRPr sz="900">
                <a:solidFill>
                  <a:srgbClr val="F8FAFC"/>
                </a:solidFill>
              </a:defRPr>
            </a:pPr>
            <a:r>
              <a:t>• Subestimação do topo: mascara convecção penetrativa e severidade.</a:t>
            </a:r>
          </a:p>
          <a:p>
            <a:pPr>
              <a:spcBef>
                <a:spcPts val="600"/>
              </a:spcBef>
              <a:defRPr sz="1050" b="1">
                <a:solidFill>
                  <a:srgbClr val="FBBF24"/>
                </a:solidFill>
              </a:defRPr>
            </a:pPr>
            <a:r>
              <a:t>Escalas Fenomenológicas:</a:t>
            </a:r>
          </a:p>
          <a:p>
            <a:pPr>
              <a:spcBef>
                <a:spcPts val="200"/>
              </a:spcBef>
              <a:defRPr sz="900">
                <a:solidFill>
                  <a:srgbClr val="F8FAFC"/>
                </a:solidFill>
              </a:defRPr>
            </a:pPr>
            <a:r>
              <a:t>• Células convectivas: escala horizontal típica de 5 a 20 km.</a:t>
            </a:r>
          </a:p>
          <a:p>
            <a:pPr>
              <a:spcBef>
                <a:spcPts val="200"/>
              </a:spcBef>
              <a:defRPr sz="900">
                <a:solidFill>
                  <a:srgbClr val="F8FAFC"/>
                </a:solidFill>
              </a:defRPr>
            </a:pPr>
            <a:r>
              <a:t>• Complexos Convectivos de Mesoescala (CCM): escala meso-alfa (&gt; 100 km), mas núcleos ativos concentrados.</a:t>
            </a:r>
          </a:p>
          <a:p>
            <a:pPr>
              <a:spcBef>
                <a:spcPts val="200"/>
              </a:spcBef>
              <a:defRPr sz="900">
                <a:solidFill>
                  <a:srgbClr val="F8FAFC"/>
                </a:solidFill>
              </a:defRPr>
            </a:pPr>
            <a:r>
              <a:t>• Resolução necessária: produtos de alta resolução (≤ 8 km / 0,07°) para resolver núcleos.</a:t>
            </a:r>
          </a:p>
          <a:p>
            <a:pPr>
              <a:spcBef>
                <a:spcPts val="600"/>
              </a:spcBef>
              <a:defRPr sz="1050" b="1">
                <a:solidFill>
                  <a:srgbClr val="34D399"/>
                </a:solidFill>
              </a:defRPr>
            </a:pPr>
            <a:r>
              <a:t>Diretriz para a Defesa Civil de SC:</a:t>
            </a:r>
          </a:p>
          <a:p>
            <a:pPr>
              <a:spcBef>
                <a:spcPts val="200"/>
              </a:spcBef>
              <a:defRPr sz="900">
                <a:solidFill>
                  <a:srgbClr val="F8FAFC"/>
                </a:solidFill>
              </a:defRPr>
            </a:pPr>
            <a:r>
              <a:t>• Não utilizar produtos de grade climatológica grosseira para diagnóstico de eventos severos.</a:t>
            </a:r>
          </a:p>
          <a:p>
            <a:pPr>
              <a:spcBef>
                <a:spcPts val="200"/>
              </a:spcBef>
              <a:defRPr sz="900">
                <a:solidFill>
                  <a:srgbClr val="F8FAFC"/>
                </a:solidFill>
              </a:defRPr>
            </a:pPr>
            <a:r>
              <a:t>• Privilegiar canais infravermelho de alta taxa temporal e espacial para emissão de alertas precoces.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"/>
            <a:ext cx="6858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</a:defRPr>
            </a:pPr>
            <a:r>
              <a:t>UFSC  •  FSC7116 METEOROLOGIA DE MESOESCALA  •  PROF. REINALDO HAAS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961120" y="228600"/>
            <a:ext cx="2514600" cy="38404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50" b="1">
                <a:solidFill>
                  <a:srgbClr val="FBBF24"/>
                </a:solidFill>
              </a:defRPr>
            </a:pPr>
            <a:r>
              <a:t>⏱️  17 - 20 min  |  Slide 10/10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1078992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8FAFC"/>
                </a:solidFill>
              </a:defRPr>
            </a:pPr>
            <a:r>
              <a:t>Conclusão &amp; Tabela Resumo dos Parâmetros Auditados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15568"/>
            <a:ext cx="107899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94A3B8"/>
                </a:solidFill>
              </a:defRPr>
            </a:pPr>
            <a:r>
              <a:t>Síntese Quantitativa Oficial Baseada em metricas.json e Referências Bibliográficas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00200"/>
            <a:ext cx="5303520" cy="4709160"/>
          </a:xfrm>
          <a:prstGeom prst="roundRect">
            <a:avLst/>
          </a:prstGeom>
          <a:solidFill>
            <a:srgbClr val="131E3A"/>
          </a:solidFill>
          <a:ln w="15240">
            <a:solidFill>
              <a:srgbClr val="2E4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737360"/>
            <a:ext cx="502920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FBBF24"/>
                </a:solidFill>
              </a:defRPr>
            </a:pPr>
            <a:r>
              <a:t>Tabela Resumo dos Diagnósticos Calculados (metricas.json):</a:t>
            </a:r>
          </a:p>
          <a:p>
            <a:pPr>
              <a:spcBef>
                <a:spcPts val="300"/>
              </a:spcBef>
              <a:defRPr sz="919">
                <a:solidFill>
                  <a:srgbClr val="F8FAFC"/>
                </a:solidFill>
              </a:defRPr>
            </a:pPr>
            <a:r>
              <a:t>• SBCAPE (J/kg): </a:t>
            </a:r>
            <a:r>
              <a:rPr b="1">
                <a:solidFill>
                  <a:srgbClr val="F87171"/>
                </a:solidFill>
              </a:rPr>
              <a:t>26/08: 8 | 31/08: 0 | 28/08: 443</a:t>
            </a:r>
          </a:p>
          <a:p>
            <a:pPr>
              <a:spcBef>
                <a:spcPts val="300"/>
              </a:spcBef>
              <a:defRPr sz="919">
                <a:solidFill>
                  <a:srgbClr val="F8FAFC"/>
                </a:solidFill>
              </a:defRPr>
            </a:pPr>
            <a:r>
              <a:t>• MUCAPE (J/kg): </a:t>
            </a:r>
            <a:r>
              <a:rPr b="1">
                <a:solidFill>
                  <a:srgbClr val="F87171"/>
                </a:solidFill>
              </a:rPr>
              <a:t>26/08: 0 | 31/08: 267 | 28/08: 1304 (Sensibilidade: 1110)</a:t>
            </a:r>
          </a:p>
          <a:p>
            <a:pPr>
              <a:spcBef>
                <a:spcPts val="300"/>
              </a:spcBef>
              <a:defRPr sz="919">
                <a:solidFill>
                  <a:srgbClr val="F8FAFC"/>
                </a:solidFill>
              </a:defRPr>
            </a:pPr>
            <a:r>
              <a:t>• SBCIN (J/kg): </a:t>
            </a:r>
            <a:r>
              <a:rPr b="1">
                <a:solidFill>
                  <a:srgbClr val="38BDF8"/>
                </a:solidFill>
              </a:rPr>
              <a:t>26/08: 0.0 | 31/08: 0.0 | 28/08: -280.0</a:t>
            </a:r>
          </a:p>
          <a:p>
            <a:pPr>
              <a:spcBef>
                <a:spcPts val="300"/>
              </a:spcBef>
              <a:defRPr sz="919">
                <a:solidFill>
                  <a:srgbClr val="F8FAFC"/>
                </a:solidFill>
              </a:defRPr>
            </a:pPr>
            <a:r>
              <a:t>• Água Precipitável PW: </a:t>
            </a:r>
            <a:r>
              <a:rPr b="1">
                <a:solidFill>
                  <a:srgbClr val="38BDF8"/>
                </a:solidFill>
              </a:rPr>
              <a:t>26/08: 27.1 mm | 31/08: 45.8 mm | 28/08: 40.9 mm</a:t>
            </a:r>
          </a:p>
          <a:p>
            <a:pPr>
              <a:spcBef>
                <a:spcPts val="300"/>
              </a:spcBef>
              <a:defRPr sz="919">
                <a:solidFill>
                  <a:srgbClr val="F8FAFC"/>
                </a:solidFill>
              </a:defRPr>
            </a:pPr>
            <a:r>
              <a:t>• Vento 925 hPa (kt): </a:t>
            </a:r>
            <a:r>
              <a:rPr b="1">
                <a:solidFill>
                  <a:srgbClr val="FBBF24"/>
                </a:solidFill>
              </a:rPr>
              <a:t>26/08: 18 kt | 31/08: 9 kt | 28/08: 20 kt (10.3 m/s)</a:t>
            </a:r>
          </a:p>
          <a:p>
            <a:pPr>
              <a:spcBef>
                <a:spcPts val="300"/>
              </a:spcBef>
              <a:defRPr sz="919">
                <a:solidFill>
                  <a:srgbClr val="F8FAFC"/>
                </a:solidFill>
              </a:defRPr>
            </a:pPr>
            <a:r>
              <a:t>• Bulk Shear 0-6 km: </a:t>
            </a:r>
            <a:r>
              <a:rPr b="1">
                <a:solidFill>
                  <a:srgbClr val="34D399"/>
                </a:solidFill>
              </a:rPr>
              <a:t>26/08: 15.8 m/s | 31/08: 31.9 m/s | 28/08: 20.5 m/s</a:t>
            </a:r>
          </a:p>
          <a:p>
            <a:pPr>
              <a:spcBef>
                <a:spcPts val="300"/>
              </a:spcBef>
              <a:defRPr sz="919">
                <a:solidFill>
                  <a:srgbClr val="F8FAFC"/>
                </a:solidFill>
              </a:defRPr>
            </a:pPr>
            <a:r>
              <a:t>• SRH 0-3 km LM (m²/s²): </a:t>
            </a:r>
            <a:r>
              <a:rPr b="1">
                <a:solidFill>
                  <a:srgbClr val="34D399"/>
                </a:solidFill>
              </a:rPr>
              <a:t>26/08: -24.0 | 31/08: -174.7 | 28/08: -336.3</a:t>
            </a:r>
          </a:p>
          <a:p>
            <a:pPr>
              <a:spcBef>
                <a:spcPts val="300"/>
              </a:spcBef>
              <a:defRPr sz="919">
                <a:solidFill>
                  <a:srgbClr val="F8FAFC"/>
                </a:solidFill>
              </a:defRPr>
            </a:pPr>
            <a:r>
              <a:t>• DCAPE Wyoming (J/kg): </a:t>
            </a:r>
            <a:r>
              <a:rPr b="1">
                <a:solidFill>
                  <a:srgbClr val="F8FAFC"/>
                </a:solidFill>
              </a:rPr>
              <a:t>26/08: 614 | 31/08: 634 | 28/08: 1190</a:t>
            </a:r>
          </a:p>
          <a:p>
            <a:pPr>
              <a:spcBef>
                <a:spcPts val="300"/>
              </a:spcBef>
              <a:defRPr sz="919">
                <a:solidFill>
                  <a:srgbClr val="F8FAFC"/>
                </a:solidFill>
              </a:defRPr>
            </a:pPr>
            <a:r>
              <a:t>• DCAPE MetPy (J/kg): </a:t>
            </a:r>
            <a:r>
              <a:rPr b="1">
                <a:solidFill>
                  <a:srgbClr val="F8FAFC"/>
                </a:solidFill>
              </a:rPr>
              <a:t>26/08: 588 | 31/08: 636 | 28/08: 1217</a:t>
            </a:r>
          </a:p>
          <a:p>
            <a:pPr>
              <a:spcBef>
                <a:spcPts val="300"/>
              </a:spcBef>
              <a:defRPr sz="919">
                <a:solidFill>
                  <a:srgbClr val="F8FAFC"/>
                </a:solidFill>
              </a:defRPr>
            </a:pPr>
            <a:r>
              <a:t>• DCAPE Emanuel Máx (J/kg): </a:t>
            </a:r>
            <a:r>
              <a:rPr b="1">
                <a:solidFill>
                  <a:srgbClr val="F8FAFC"/>
                </a:solidFill>
              </a:rPr>
              <a:t>26/08: 47.3 | 31/08: 4.9 | 28/08: 47.3</a:t>
            </a:r>
          </a:p>
          <a:p>
            <a:pPr>
              <a:spcBef>
                <a:spcPts val="300"/>
              </a:spcBef>
              <a:defRPr sz="919">
                <a:solidFill>
                  <a:srgbClr val="F8FAFC"/>
                </a:solidFill>
              </a:defRPr>
            </a:pPr>
            <a:r>
              <a:t>• Resolução de Satélite: </a:t>
            </a:r>
            <a:r>
              <a:rPr b="1">
                <a:solidFill>
                  <a:srgbClr val="94A3B8"/>
                </a:solidFill>
              </a:rPr>
              <a:t>Grade de 1° ISCCP descartada por diluição espacial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00200"/>
            <a:ext cx="5257800" cy="4709160"/>
          </a:xfrm>
          <a:prstGeom prst="roundRect">
            <a:avLst/>
          </a:prstGeom>
          <a:solidFill>
            <a:srgbClr val="131E3A"/>
          </a:solidFill>
          <a:ln w="15240">
            <a:solidFill>
              <a:srgbClr val="2E4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737360"/>
            <a:ext cx="489204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38BDF8"/>
                </a:solidFill>
              </a:defRPr>
            </a:pPr>
            <a:r>
              <a:t>Referências Bibliográficas &amp; Metodológicas:</a:t>
            </a:r>
          </a:p>
          <a:p>
            <a:pPr>
              <a:spcBef>
                <a:spcPts val="200"/>
              </a:spcBef>
              <a:defRPr sz="850">
                <a:solidFill>
                  <a:srgbClr val="94A3B8"/>
                </a:solidFill>
              </a:defRPr>
            </a:pPr>
            <a:r>
              <a:t>• Emanuel, K. A. (1994). Atmospheric Convection. Oxford University Press, 580 pp.</a:t>
            </a:r>
          </a:p>
          <a:p>
            <a:pPr>
              <a:spcBef>
                <a:spcPts val="200"/>
              </a:spcBef>
              <a:defRPr sz="850">
                <a:solidFill>
                  <a:srgbClr val="94A3B8"/>
                </a:solidFill>
              </a:defRPr>
            </a:pPr>
            <a:r>
              <a:t>• MIT OpenCourseWare (Course 12.811). Atmospheric Convection. Massachusetts Institute of Technology.</a:t>
            </a:r>
          </a:p>
          <a:p>
            <a:pPr>
              <a:spcBef>
                <a:spcPts val="200"/>
              </a:spcBef>
              <a:defRPr sz="850">
                <a:solidFill>
                  <a:srgbClr val="94A3B8"/>
                </a:solidFill>
              </a:defRPr>
            </a:pPr>
            <a:r>
              <a:t>• Bunkers, M. J., et al. (2000). Predicting supercell motion using a new hodograph technique. Weather and Forecasting, 15(1), 61-79.</a:t>
            </a:r>
          </a:p>
          <a:p>
            <a:pPr>
              <a:spcBef>
                <a:spcPts val="200"/>
              </a:spcBef>
              <a:defRPr sz="850">
                <a:solidFill>
                  <a:srgbClr val="94A3B8"/>
                </a:solidFill>
              </a:defRPr>
            </a:pPr>
            <a:r>
              <a:t>• Markowski, P., &amp; Richardson, Y. (2010). Mesoscale Meteorology in Midlatitudes. Wiley-Blackwell.</a:t>
            </a:r>
          </a:p>
          <a:p>
            <a:pPr>
              <a:spcBef>
                <a:spcPts val="200"/>
              </a:spcBef>
              <a:defRPr sz="850">
                <a:solidFill>
                  <a:srgbClr val="94A3B8"/>
                </a:solidFill>
              </a:defRPr>
            </a:pPr>
            <a:r>
              <a:t>• MetPy Development Team (2024). MetPy: A Python Package for Meteorological Data.</a:t>
            </a:r>
          </a:p>
          <a:p>
            <a:pPr>
              <a:spcBef>
                <a:spcPts val="1000"/>
              </a:spcBef>
              <a:defRPr sz="950">
                <a:solidFill>
                  <a:srgbClr val="F8FAFC"/>
                </a:solidFill>
              </a:defRPr>
            </a:pPr>
            <a:r>
              <a:t>O código-fonte completo (notebook, wyoming.f, tarefa_sondagens.py/.m, calc_metricas.py, generate_figures.py e tutorial interativo) encontra-se disponível no repositório GitHub:</a:t>
            </a:r>
            <a:br/>
            <a:r>
              <a:t>https://github.com/reinaldohaas/tarefa-meso</a:t>
            </a:r>
            <a:br/>
            <a:br/>
            <a:r>
              <a:t>Estou à disposição para as perguntas e considerações técnicas dos previsores da Defesa Civil de SC.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